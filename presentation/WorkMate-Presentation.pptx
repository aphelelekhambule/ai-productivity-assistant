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7212B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7212B"/>
                </a:solidFill>
                <a:latin typeface="+mn-lt"/>
              </a:rPr>
              <a:t>Estimated minutes per task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Manual</c:v>
                </c:pt>
              </c:strCache>
            </c:strRef>
          </c:tx>
          <c:spPr>
            <a:solidFill>
              <a:srgbClr val="4A566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7212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Email</c:v>
                  </c:pt>
                  <c:pt idx="1">
                    <c:v>Meeting minutes</c:v>
                  </c:pt>
                  <c:pt idx="2">
                    <c:v>Daily plan</c:v>
                  </c:pt>
                  <c:pt idx="3">
                    <c:v>Article brief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20</c:v>
                </c:pt>
                <c:pt idx="2">
                  <c:v>20</c:v>
                </c:pt>
                <c:pt idx="3">
                  <c:v>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With WorkMate</c:v>
                </c:pt>
              </c:strCache>
            </c:strRef>
          </c:tx>
          <c:spPr>
            <a:solidFill>
              <a:srgbClr val="0B6E6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7212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Email</c:v>
                  </c:pt>
                  <c:pt idx="1">
                    <c:v>Meeting minutes</c:v>
                  </c:pt>
                  <c:pt idx="2">
                    <c:v>Daily plan</c:v>
                  </c:pt>
                  <c:pt idx="3">
                    <c:v>Article brief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8</c:v>
                </c:pt>
                <c:pt idx="2">
                  <c:v>5</c:v>
                </c:pt>
                <c:pt idx="3">
                  <c:v>10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7212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7212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4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66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7212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yourself and the project. One sentence: WorkMate automates repetitive workplace writing and planning, with safeguards so a human stays in charge.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 work. Not a made-up problem. The key tension is speed versus correctness, which is why safeguards matter.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five required feature areas. Prompt Lab is the extra: it shows how each prompt was improved.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the two engines. Demo mode needs no key and is rule-based (not an LLM, and says so). Live mode uses the visitor's own API key held only in session storage.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DEMO: open the app, Meeting notes tab, Load example, Summarise. Point out the unassigned warning and the validation checklist.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each letter with the meeting prompt as the example. Techniques map to the Discover the Art of Prompting learning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this honestly: these are the intended effects of each change. Your own measured test results go in docs/TEST_LOG.md. If you ran the prompts live, quote one real before/after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Tie to the Use AI Responsibly learning area: limitations, bias, risks, disclaimers and validation steps are all visible in the product, not just in this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upfront that these are estimates. If you time yourself during testing, replace the numbers and say "I measured". Sum of savings: 8 + 12 + 15 + 15 = 50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Pick two challenges to tell as a short story: the "guessing owners" problem and the unmarked-task bug found by testing.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Replace YOUR-GITHUB-USERNAME with your GitHub username before presenting. Invite questions. Offer a live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851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663"/>
                </a:solidFill>
              </a:rPr>
              <a:t>WorkMate · Aphelele Khambule · CAPACITI AI Skill Accelerator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66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66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097280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WorkMate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1031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E3F1EF"/>
                </a:solidFill>
              </a:rPr>
              <a:t>An AI assistant that gives your workday back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38328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AI-Powered Workplace Productivity Assistant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Aphelele Khambule · CAPACITI AI Skill Accelerator Programme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 quietly eats the week</a:t>
            </a:r>
            <a:endParaRPr lang="en-US" sz="3400" dirty="0"/>
          </a:p>
        </p:txBody>
      </p:sp>
      <p:sp>
        <p:nvSpPr>
          <p:cNvPr id="3" name="problem-card-1"/>
          <p:cNvSpPr/>
          <p:nvPr/>
        </p:nvSpPr>
        <p:spPr>
          <a:xfrm>
            <a:off x="457200" y="1234440"/>
            <a:ext cx="402336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50876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463040" y="1344168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Emails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Similar messages rewritten again and again, in the right tone for the right person.</a:t>
            </a:r>
            <a:endParaRPr lang="en-US" sz="2000" dirty="0"/>
          </a:p>
        </p:txBody>
      </p:sp>
      <p:sp>
        <p:nvSpPr>
          <p:cNvPr id="6" name="problem-card-2"/>
          <p:cNvSpPr/>
          <p:nvPr/>
        </p:nvSpPr>
        <p:spPr>
          <a:xfrm>
            <a:off x="4663440" y="1234440"/>
            <a:ext cx="402336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46320" y="150876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669280" y="1344168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Meetings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Messy notes where owners and deadlines get lost.</a:t>
            </a:r>
            <a:endParaRPr lang="en-US" sz="2000" dirty="0"/>
          </a:p>
        </p:txBody>
      </p:sp>
      <p:sp>
        <p:nvSpPr>
          <p:cNvPr id="9" name="problem-card-3"/>
          <p:cNvSpPr/>
          <p:nvPr/>
        </p:nvSpPr>
        <p:spPr>
          <a:xfrm>
            <a:off x="457200" y="2743200"/>
            <a:ext cx="402336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301752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2852928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Planning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Long to-do lists with no clear order, and days that are over-booked.</a:t>
            </a:r>
            <a:endParaRPr lang="en-US" sz="2000" dirty="0"/>
          </a:p>
        </p:txBody>
      </p:sp>
      <p:sp>
        <p:nvSpPr>
          <p:cNvPr id="12" name="problem-card-4"/>
          <p:cNvSpPr/>
          <p:nvPr/>
        </p:nvSpPr>
        <p:spPr>
          <a:xfrm>
            <a:off x="4663440" y="2743200"/>
            <a:ext cx="402336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301752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0" y="2852928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Research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Long documents read just to find one useful point.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2"/>
                </a:solidFill>
              </a:rPr>
              <a:t>Goal: save time on routine work without removing human judgement.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66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tools, one assistant</a:t>
            </a:r>
            <a:endParaRPr lang="en-US" sz="3400" dirty="0"/>
          </a:p>
        </p:txBody>
      </p:sp>
      <p:sp>
        <p:nvSpPr>
          <p:cNvPr id="3" name="feature-card-1"/>
          <p:cNvSpPr/>
          <p:nvPr/>
        </p:nvSpPr>
        <p:spPr>
          <a:xfrm>
            <a:off x="457200" y="1234440"/>
            <a:ext cx="2651760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4173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Email Generator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2024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Audience × tone × purpose</a:t>
            </a:r>
            <a:endParaRPr lang="en-US" sz="1400" dirty="0"/>
          </a:p>
        </p:txBody>
      </p:sp>
      <p:sp>
        <p:nvSpPr>
          <p:cNvPr id="6" name="feature-card-2"/>
          <p:cNvSpPr/>
          <p:nvPr/>
        </p:nvSpPr>
        <p:spPr>
          <a:xfrm>
            <a:off x="3246120" y="1234440"/>
            <a:ext cx="2651760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29000" y="14173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Meeting Summarizer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3429000" y="192024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Decisions, actions, owners, deadlines</a:t>
            </a:r>
            <a:endParaRPr lang="en-US" sz="1400" dirty="0"/>
          </a:p>
        </p:txBody>
      </p:sp>
      <p:sp>
        <p:nvSpPr>
          <p:cNvPr id="9" name="feature-card-3"/>
          <p:cNvSpPr/>
          <p:nvPr/>
        </p:nvSpPr>
        <p:spPr>
          <a:xfrm>
            <a:off x="6035040" y="1234440"/>
            <a:ext cx="2651760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17920" y="14173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Task Planner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192024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Eisenhower + time-blocked plan</a:t>
            </a:r>
            <a:endParaRPr lang="en-US" sz="1400" dirty="0"/>
          </a:p>
        </p:txBody>
      </p:sp>
      <p:sp>
        <p:nvSpPr>
          <p:cNvPr id="12" name="feature-card-4"/>
          <p:cNvSpPr/>
          <p:nvPr/>
        </p:nvSpPr>
        <p:spPr>
          <a:xfrm>
            <a:off x="457200" y="2926080"/>
            <a:ext cx="2651760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1089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Research Assistant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361188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Summary, insights, plain language</a:t>
            </a:r>
            <a:endParaRPr lang="en-US" sz="1400" dirty="0"/>
          </a:p>
        </p:txBody>
      </p:sp>
      <p:sp>
        <p:nvSpPr>
          <p:cNvPr id="15" name="feature-card-5"/>
          <p:cNvSpPr/>
          <p:nvPr/>
        </p:nvSpPr>
        <p:spPr>
          <a:xfrm>
            <a:off x="3246120" y="2926080"/>
            <a:ext cx="2651760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429000" y="31089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Chatbot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429000" y="361188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Multi-turn, asks when unclear</a:t>
            </a:r>
            <a:endParaRPr lang="en-US" sz="1400" dirty="0"/>
          </a:p>
        </p:txBody>
      </p:sp>
      <p:sp>
        <p:nvSpPr>
          <p:cNvPr id="18" name="feature-card-6"/>
          <p:cNvSpPr/>
          <p:nvPr/>
        </p:nvSpPr>
        <p:spPr>
          <a:xfrm>
            <a:off x="6035040" y="2926080"/>
            <a:ext cx="2651760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prompt-lab-card"/>
          <p:cNvSpPr/>
          <p:nvPr/>
        </p:nvSpPr>
        <p:spPr>
          <a:xfrm>
            <a:off x="6035040" y="2926080"/>
            <a:ext cx="2651760" cy="1508760"/>
          </a:xfrm>
          <a:prstGeom prst="roundRect">
            <a:avLst>
              <a:gd name="adj" fmla="val 727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17920" y="3108960"/>
            <a:ext cx="2286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Prompt Lab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Every prompt, v1 → v3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5720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Brief requires 3 features. WorkMate delivers all 5.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66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works</a:t>
            </a:r>
            <a:endParaRPr lang="en-US" sz="3400" dirty="0"/>
          </a:p>
        </p:txBody>
      </p:sp>
      <p:sp>
        <p:nvSpPr>
          <p:cNvPr id="3" name="step-card-1"/>
          <p:cNvSpPr/>
          <p:nvPr/>
        </p:nvSpPr>
        <p:spPr>
          <a:xfrm>
            <a:off x="457200" y="1463040"/>
            <a:ext cx="1554480" cy="237744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0120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317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Input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88920"/>
            <a:ext cx="1371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Form or chat message</a:t>
            </a:r>
            <a:endParaRPr lang="en-US" sz="1200" dirty="0"/>
          </a:p>
        </p:txBody>
      </p:sp>
      <p:sp>
        <p:nvSpPr>
          <p:cNvPr id="7" name="step-card-2"/>
          <p:cNvSpPr/>
          <p:nvPr/>
        </p:nvSpPr>
        <p:spPr>
          <a:xfrm>
            <a:off x="2121408" y="1463040"/>
            <a:ext cx="1554480" cy="237744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624328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2212848" y="23317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Safety scan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2212848" y="2788920"/>
            <a:ext cx="1371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Warns about IDs, cards, phones, passwords</a:t>
            </a:r>
            <a:endParaRPr lang="en-US" sz="1200" dirty="0"/>
          </a:p>
        </p:txBody>
      </p:sp>
      <p:sp>
        <p:nvSpPr>
          <p:cNvPr id="11" name="step-card-3"/>
          <p:cNvSpPr/>
          <p:nvPr/>
        </p:nvSpPr>
        <p:spPr>
          <a:xfrm>
            <a:off x="3785616" y="1463040"/>
            <a:ext cx="1554480" cy="237744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288536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877056" y="23317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Prompt builder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877056" y="2788920"/>
            <a:ext cx="1371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Role · Context · Task · Format · Constraints</a:t>
            </a:r>
            <a:endParaRPr lang="en-US" sz="1200" dirty="0"/>
          </a:p>
        </p:txBody>
      </p:sp>
      <p:sp>
        <p:nvSpPr>
          <p:cNvPr id="15" name="step-card-4"/>
          <p:cNvSpPr/>
          <p:nvPr/>
        </p:nvSpPr>
        <p:spPr>
          <a:xfrm>
            <a:off x="5449824" y="1463040"/>
            <a:ext cx="1554480" cy="237744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52744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5541264" y="23317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Engine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541264" y="2788920"/>
            <a:ext cx="1371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Demo rules, or live Gemini / OpenAI / Claude</a:t>
            </a:r>
            <a:endParaRPr lang="en-US" sz="1200" dirty="0"/>
          </a:p>
        </p:txBody>
      </p:sp>
      <p:sp>
        <p:nvSpPr>
          <p:cNvPr id="19" name="step-card-5"/>
          <p:cNvSpPr/>
          <p:nvPr/>
        </p:nvSpPr>
        <p:spPr>
          <a:xfrm>
            <a:off x="7114032" y="1463040"/>
            <a:ext cx="1554480" cy="237744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616952" y="164592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7205472" y="23317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Review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205472" y="2788920"/>
            <a:ext cx="1371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Labelled output + validation checklist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Runs entirely in the browser. No server and no stored user data.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66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Demo: messy notes to action items</a:t>
            </a:r>
            <a:endParaRPr lang="en-US" sz="3400" dirty="0"/>
          </a:p>
        </p:txBody>
      </p:sp>
      <p:sp>
        <p:nvSpPr>
          <p:cNvPr id="3" name="raw-notes-card"/>
          <p:cNvSpPr/>
          <p:nvPr/>
        </p:nvSpPr>
        <p:spPr>
          <a:xfrm>
            <a:off x="457200" y="1188720"/>
            <a:ext cx="3291840" cy="329184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280160"/>
            <a:ext cx="29260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Raw notes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Sipho will send the revised supplier contract by Friday.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Lerato needs to update the cost tracker by 12 October.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Naledi to book the training room next week.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Someone should look at overtime costs.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The team agreed to switch to the second supplier.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023360" y="1188720"/>
          <a:ext cx="46634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280160"/>
                <a:gridCol w="109728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Action</a:t>
                      </a: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6E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Owner</a:t>
                      </a: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6E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Due</a:t>
                      </a: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6E6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12B"/>
                          </a:solidFill>
                        </a:rPr>
                        <a:t>Send revised supplier contract</a:t>
                      </a: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12B"/>
                          </a:solidFill>
                        </a:rPr>
                        <a:t>Sipho</a:t>
                      </a: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12B"/>
                          </a:solidFill>
                        </a:rPr>
                        <a:t>Friday</a:t>
                      </a: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12B"/>
                          </a:solidFill>
                        </a:rPr>
                        <a:t>Update cost tracker</a:t>
                      </a: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12B"/>
                          </a:solidFill>
                        </a:rPr>
                        <a:t>Lerato</a:t>
                      </a: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12B"/>
                          </a:solidFill>
                        </a:rPr>
                        <a:t>12 Oct</a:t>
                      </a: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12B"/>
                          </a:solidFill>
                        </a:rPr>
                        <a:t>Book training room</a:t>
                      </a: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12B"/>
                          </a:solidFill>
                        </a:rPr>
                        <a:t>Naledi</a:t>
                      </a: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12B"/>
                          </a:solidFill>
                        </a:rPr>
                        <a:t>Next week</a:t>
                      </a: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A4262C"/>
                          </a:solidFill>
                        </a:rPr>
                        <a:t>Look at overtime costs</a:t>
                      </a: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A4262C"/>
                          </a:solidFill>
                        </a:rPr>
                        <a:t>Unassigned ⚠</a:t>
                      </a: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12B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023360" y="352044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2"/>
                </a:solidFill>
              </a:rPr>
              <a:t>Decision captured: switch to the second supplier. Missing owners are flagged, never guessed.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66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Prompts follow R-C-T-F-C</a:t>
            </a:r>
            <a:endParaRPr lang="en-US" sz="3400" dirty="0"/>
          </a:p>
        </p:txBody>
      </p:sp>
      <p:sp>
        <p:nvSpPr>
          <p:cNvPr id="3" name="rctfc-card-1"/>
          <p:cNvSpPr/>
          <p:nvPr/>
        </p:nvSpPr>
        <p:spPr>
          <a:xfrm>
            <a:off x="457200" y="1280160"/>
            <a:ext cx="1554480" cy="20116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3716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1031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Role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46888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Sets the expertise</a:t>
            </a:r>
            <a:endParaRPr lang="en-US" sz="1200" dirty="0"/>
          </a:p>
        </p:txBody>
      </p:sp>
      <p:sp>
        <p:nvSpPr>
          <p:cNvPr id="7" name="rctfc-card-2"/>
          <p:cNvSpPr/>
          <p:nvPr/>
        </p:nvSpPr>
        <p:spPr>
          <a:xfrm>
            <a:off x="2121408" y="1280160"/>
            <a:ext cx="1554480" cy="20116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121408" y="13716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2212848" y="21031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Context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2212848" y="246888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Only the facts the model may use</a:t>
            </a:r>
            <a:endParaRPr lang="en-US" sz="1200" dirty="0"/>
          </a:p>
        </p:txBody>
      </p:sp>
      <p:sp>
        <p:nvSpPr>
          <p:cNvPr id="11" name="rctfc-card-3"/>
          <p:cNvSpPr/>
          <p:nvPr/>
        </p:nvSpPr>
        <p:spPr>
          <a:xfrm>
            <a:off x="3785616" y="1280160"/>
            <a:ext cx="1554480" cy="20116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785616" y="13716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endParaRPr lang="en-US" sz="4000" dirty="0"/>
          </a:p>
        </p:txBody>
      </p:sp>
      <p:sp>
        <p:nvSpPr>
          <p:cNvPr id="13" name="Text 11"/>
          <p:cNvSpPr txBox="1"/>
          <p:nvPr/>
        </p:nvSpPr>
        <p:spPr>
          <a:xfrm>
            <a:off x="3877056" y="21031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Task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877056" y="246888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One clear job</a:t>
            </a:r>
            <a:endParaRPr lang="en-US" sz="1200" dirty="0"/>
          </a:p>
        </p:txBody>
      </p:sp>
      <p:sp>
        <p:nvSpPr>
          <p:cNvPr id="15" name="rctfc-card-4"/>
          <p:cNvSpPr/>
          <p:nvPr/>
        </p:nvSpPr>
        <p:spPr>
          <a:xfrm>
            <a:off x="5449824" y="1280160"/>
            <a:ext cx="1554480" cy="20116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49824" y="13716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</a:t>
            </a:r>
            <a:endParaRPr lang="en-US" sz="4000" dirty="0"/>
          </a:p>
        </p:txBody>
      </p:sp>
      <p:sp>
        <p:nvSpPr>
          <p:cNvPr id="17" name="Text 15"/>
          <p:cNvSpPr txBox="1"/>
          <p:nvPr/>
        </p:nvSpPr>
        <p:spPr>
          <a:xfrm>
            <a:off x="5541264" y="21031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Format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5541264" y="246888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Exact structure of the output</a:t>
            </a:r>
            <a:endParaRPr lang="en-US" sz="1200" dirty="0"/>
          </a:p>
        </p:txBody>
      </p:sp>
      <p:sp>
        <p:nvSpPr>
          <p:cNvPr id="19" name="rctfc-card-5"/>
          <p:cNvSpPr/>
          <p:nvPr/>
        </p:nvSpPr>
        <p:spPr>
          <a:xfrm>
            <a:off x="7114032" y="1280160"/>
            <a:ext cx="1554480" cy="20116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114032" y="13716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4000" dirty="0"/>
          </a:p>
        </p:txBody>
      </p:sp>
      <p:sp>
        <p:nvSpPr>
          <p:cNvPr id="21" name="Text 19"/>
          <p:cNvSpPr txBox="1"/>
          <p:nvPr/>
        </p:nvSpPr>
        <p:spPr>
          <a:xfrm>
            <a:off x="7205472" y="21031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Constraints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7205472" y="246888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Block known failures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356616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Plus: delimiters around user data · a one-shot example · "Not stated" fallbacks · temperature tuning (0.2 for minutes, 0.6 for email) · a "Check before use" line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66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Prompt iteration: meeting minutes</a:t>
            </a:r>
            <a:endParaRPr lang="en-US" sz="3400" dirty="0"/>
          </a:p>
        </p:txBody>
      </p:sp>
      <p:sp>
        <p:nvSpPr>
          <p:cNvPr id="3" name="version-head-1"/>
          <p:cNvSpPr/>
          <p:nvPr/>
        </p:nvSpPr>
        <p:spPr>
          <a:xfrm>
            <a:off x="457200" y="1234440"/>
            <a:ext cx="2651760" cy="502920"/>
          </a:xfrm>
          <a:prstGeom prst="roundRect">
            <a:avLst>
              <a:gd name="adj" fmla="val 18182"/>
            </a:avLst>
          </a:prstGeom>
          <a:solidFill>
            <a:srgbClr val="4A5663"/>
          </a:solidFill>
          <a:ln w="12700">
            <a:solidFill>
              <a:srgbClr val="4A566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2344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v1 · naive</a:t>
            </a:r>
            <a:endParaRPr lang="en-US" sz="1600" dirty="0"/>
          </a:p>
        </p:txBody>
      </p:sp>
      <p:sp>
        <p:nvSpPr>
          <p:cNvPr id="5" name="version-body-1"/>
          <p:cNvSpPr/>
          <p:nvPr/>
        </p:nvSpPr>
        <p:spPr>
          <a:xfrm>
            <a:off x="457200" y="1828800"/>
            <a:ext cx="2651760" cy="256032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920240"/>
            <a:ext cx="2286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Prompt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"Summarise these meeting notes."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Result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Loose paragraph. Actions buried.</a:t>
            </a:r>
            <a:endParaRPr lang="en-US" sz="1400" dirty="0"/>
          </a:p>
        </p:txBody>
      </p:sp>
      <p:sp>
        <p:nvSpPr>
          <p:cNvPr id="7" name="version-head-2"/>
          <p:cNvSpPr/>
          <p:nvPr/>
        </p:nvSpPr>
        <p:spPr>
          <a:xfrm>
            <a:off x="3246120" y="1234440"/>
            <a:ext cx="2651760" cy="502920"/>
          </a:xfrm>
          <a:prstGeom prst="roundRect">
            <a:avLst>
              <a:gd name="adj" fmla="val 18182"/>
            </a:avLst>
          </a:prstGeom>
          <a:solidFill>
            <a:srgbClr val="B8650D"/>
          </a:solidFill>
          <a:ln w="12700">
            <a:solidFill>
              <a:srgbClr val="B8650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83280" y="12344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v2 · headings</a:t>
            </a:r>
            <a:endParaRPr lang="en-US" sz="1600" dirty="0"/>
          </a:p>
        </p:txBody>
      </p:sp>
      <p:sp>
        <p:nvSpPr>
          <p:cNvPr id="9" name="version-body-2"/>
          <p:cNvSpPr/>
          <p:nvPr/>
        </p:nvSpPr>
        <p:spPr>
          <a:xfrm>
            <a:off x="3246120" y="1828800"/>
            <a:ext cx="2651760" cy="256032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29000" y="1920240"/>
            <a:ext cx="2286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Prompt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Added Summary / Decisions / Actions.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Result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Still guesses missing owners and deadlines.</a:t>
            </a:r>
            <a:endParaRPr lang="en-US" sz="1400" dirty="0"/>
          </a:p>
        </p:txBody>
      </p:sp>
      <p:sp>
        <p:nvSpPr>
          <p:cNvPr id="11" name="version-head-3"/>
          <p:cNvSpPr/>
          <p:nvPr/>
        </p:nvSpPr>
        <p:spPr>
          <a:xfrm>
            <a:off x="6035040" y="1234440"/>
            <a:ext cx="2651760" cy="502920"/>
          </a:xfrm>
          <a:prstGeom prst="roundRect">
            <a:avLst>
              <a:gd name="adj" fmla="val 18182"/>
            </a:avLst>
          </a:prstGeom>
          <a:solidFill>
            <a:srgbClr val="0B6E69"/>
          </a:solidFill>
          <a:ln w="12700">
            <a:solidFill>
              <a:srgbClr val="0B6E6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172200" y="12344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v3 · final</a:t>
            </a:r>
            <a:endParaRPr lang="en-US" sz="1600" dirty="0"/>
          </a:p>
        </p:txBody>
      </p:sp>
      <p:sp>
        <p:nvSpPr>
          <p:cNvPr id="13" name="version-body-3"/>
          <p:cNvSpPr/>
          <p:nvPr/>
        </p:nvSpPr>
        <p:spPr>
          <a:xfrm>
            <a:off x="6035040" y="1828800"/>
            <a:ext cx="2651760" cy="256032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0" y="1920240"/>
            <a:ext cx="2286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Prompt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Exact format + "Not stated" rule + example + temp 0.2.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Result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Faithful to the notes. Gaps are flagged.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66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Responsible AI built in</a:t>
            </a:r>
            <a:endParaRPr lang="en-US" sz="3400" dirty="0"/>
          </a:p>
        </p:txBody>
      </p:sp>
      <p:sp>
        <p:nvSpPr>
          <p:cNvPr id="3" name="rai-card-1"/>
          <p:cNvSpPr/>
          <p:nvPr/>
        </p:nvSpPr>
        <p:spPr>
          <a:xfrm>
            <a:off x="457200" y="1234440"/>
            <a:ext cx="265176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344168"/>
            <a:ext cx="2286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Transparent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Every output labelled AI-generated, with the engine used</a:t>
            </a:r>
            <a:endParaRPr lang="en-US" sz="1800" dirty="0"/>
          </a:p>
        </p:txBody>
      </p:sp>
      <p:sp>
        <p:nvSpPr>
          <p:cNvPr id="5" name="rai-card-2"/>
          <p:cNvSpPr/>
          <p:nvPr/>
        </p:nvSpPr>
        <p:spPr>
          <a:xfrm>
            <a:off x="3246120" y="1234440"/>
            <a:ext cx="265176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429000" y="1344168"/>
            <a:ext cx="2286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Human in the loop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Validation checklist on every result</a:t>
            </a:r>
            <a:endParaRPr lang="en-US" sz="1800" dirty="0"/>
          </a:p>
        </p:txBody>
      </p:sp>
      <p:sp>
        <p:nvSpPr>
          <p:cNvPr id="7" name="rai-card-3"/>
          <p:cNvSpPr/>
          <p:nvPr/>
        </p:nvSpPr>
        <p:spPr>
          <a:xfrm>
            <a:off x="6035040" y="1234440"/>
            <a:ext cx="265176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17920" y="1344168"/>
            <a:ext cx="2286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Private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PII scan before sending. Key kept in the tab only</a:t>
            </a:r>
            <a:endParaRPr lang="en-US" sz="1800" dirty="0"/>
          </a:p>
        </p:txBody>
      </p:sp>
      <p:sp>
        <p:nvSpPr>
          <p:cNvPr id="9" name="rai-card-4"/>
          <p:cNvSpPr/>
          <p:nvPr/>
        </p:nvSpPr>
        <p:spPr>
          <a:xfrm>
            <a:off x="457200" y="2880360"/>
            <a:ext cx="265176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990088"/>
            <a:ext cx="2286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Accurate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 invented facts. "Not stated" and placeholders</a:t>
            </a:r>
            <a:endParaRPr lang="en-US" sz="1800" dirty="0"/>
          </a:p>
        </p:txBody>
      </p:sp>
      <p:sp>
        <p:nvSpPr>
          <p:cNvPr id="11" name="rai-card-5"/>
          <p:cNvSpPr/>
          <p:nvPr/>
        </p:nvSpPr>
        <p:spPr>
          <a:xfrm>
            <a:off x="3246120" y="2880360"/>
            <a:ext cx="265176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429000" y="2990088"/>
            <a:ext cx="2286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Fair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Inclusive-language rule and bias reminders</a:t>
            </a:r>
            <a:endParaRPr lang="en-US" sz="1800" dirty="0"/>
          </a:p>
        </p:txBody>
      </p:sp>
      <p:sp>
        <p:nvSpPr>
          <p:cNvPr id="13" name="rai-card-6"/>
          <p:cNvSpPr/>
          <p:nvPr/>
        </p:nvSpPr>
        <p:spPr>
          <a:xfrm>
            <a:off x="6035040" y="2880360"/>
            <a:ext cx="265176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0" y="2990088"/>
            <a:ext cx="2286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Honest limits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Demo engine is rules, not an LLM. Always verify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66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time goes back</a:t>
            </a:r>
            <a:endParaRPr lang="en-US" sz="3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097280"/>
          <a:ext cx="566928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tat-card"/>
          <p:cNvSpPr/>
          <p:nvPr/>
        </p:nvSpPr>
        <p:spPr>
          <a:xfrm>
            <a:off x="6400800" y="1188720"/>
            <a:ext cx="2286000" cy="15544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537960" y="1280160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~50 min</a:t>
            </a:r>
            <a:endParaRPr lang="en-US" sz="36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saved across one of each task (estimate)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6400800" y="2926080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These are planning assumptions, not measured results. Review time is included. Replace with my own timings from testing.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66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Challenges and solutions</a:t>
            </a:r>
            <a:endParaRPr lang="en-US" sz="3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438912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Challenge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6E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Solution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6E6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12B"/>
                          </a:solidFill>
                        </a:rPr>
                        <a:t>Summaries guess missing owners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12B"/>
                          </a:solidFill>
                        </a:rPr>
                        <a:t>"Not stated" rule + unassigned warning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12B"/>
                          </a:solidFill>
                        </a:rPr>
                        <a:t>Plans over-book the day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12B"/>
                          </a:solidFill>
                        </a:rPr>
                        <a:t>Capacity check, priority order, "could not fit" list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12B"/>
                          </a:solidFill>
                        </a:rPr>
                        <a:t>Unmarked tasks dropped as low priority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12B"/>
                          </a:solidFill>
                        </a:rPr>
                        <a:t>Default to important (found by unit tests)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12B"/>
                          </a:solidFill>
                        </a:rPr>
                        <a:t>API keys cannot hide in a static site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12B"/>
                          </a:solidFill>
                        </a:rPr>
                        <a:t>Bring-your-own-key, session only + no-key demo mode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12B"/>
                          </a:solidFill>
                        </a:rPr>
                        <a:t>Must work with no key or connection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12B"/>
                          </a:solidFill>
                        </a:rPr>
                        <a:t>Rule-based engine with 13 automated tests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66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91440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01168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3F1EF"/>
                </a:solidFill>
              </a:rPr>
              <a:t>Next: server-side key proxy · email and calendar integration · measured-time tracker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10896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Live site: YOUR-GITHUB-USERNAME.github.io/AI-Productivity-Assistant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Code: github.com/YOUR-GITHUB-USERNAME/AI-Productivity-Assistant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Aphelele Khambule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orkMate">
  <a:themeElements>
    <a:clrScheme name="WorkMate">
      <a:dk1>
        <a:srgbClr val="17212B"/>
      </a:dk1>
      <a:lt1>
        <a:srgbClr val="FFFFFF"/>
      </a:lt1>
      <a:dk2>
        <a:srgbClr val="0B6E69"/>
      </a:dk2>
      <a:lt2>
        <a:srgbClr val="E3F1EF"/>
      </a:lt2>
      <a:accent1>
        <a:srgbClr val="0B6E69"/>
      </a:accent1>
      <a:accent2>
        <a:srgbClr val="B8650D"/>
      </a:accent2>
      <a:accent3>
        <a:srgbClr val="1C9A92"/>
      </a:accent3>
      <a:accent4>
        <a:srgbClr val="F3E3C8"/>
      </a:accent4>
      <a:accent5>
        <a:srgbClr val="4A5663"/>
      </a:accent5>
      <a:accent6>
        <a:srgbClr val="A4262C"/>
      </a:accent6>
      <a:hlink>
        <a:srgbClr val="0B6E69"/>
      </a:hlink>
      <a:folHlink>
        <a:srgbClr val="4A5663"/>
      </a:folHlink>
    </a:clrScheme>
    <a:fontScheme name="WorkMat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WorkMate – AI Workplace Productivity Assistant</dc:title>
  <dc:subject>PptxGenJS Presentation</dc:subject>
  <dc:creator>Aphelele Khambule</dc:creator>
  <cp:lastModifiedBy>Aphelele Khambule</cp:lastModifiedBy>
  <cp:revision>1</cp:revision>
  <dcterms:created xsi:type="dcterms:W3CDTF">2026-10-08T07:22:57Z</dcterms:created>
  <dcterms:modified xsi:type="dcterms:W3CDTF">2026-10-08T07:22:57Z</dcterms:modified>
</cp:coreProperties>
</file>