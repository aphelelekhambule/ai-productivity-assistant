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721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7212B"/>
                </a:solidFill>
                <a:latin typeface="+mn-lt"/>
              </a:rPr>
              <a:t>Estimated minutes per task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4A56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1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Email</c:v>
                  </c:pt>
                  <c:pt idx="1">
                    <c:v>Meeting minutes</c:v>
                  </c:pt>
                  <c:pt idx="2">
                    <c:v>Daily plan</c:v>
                  </c:pt>
                  <c:pt idx="3">
                    <c:v>Article brief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20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WorkMate</c:v>
                </c:pt>
              </c:strCache>
            </c:strRef>
          </c:tx>
          <c:spPr>
            <a:solidFill>
              <a:srgbClr val="0B6E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1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Email</c:v>
                  </c:pt>
                  <c:pt idx="1">
                    <c:v>Meeting minutes</c:v>
                  </c:pt>
                  <c:pt idx="2">
                    <c:v>Daily plan</c:v>
                  </c:pt>
                  <c:pt idx="3">
                    <c:v>Article brief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721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1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6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1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One sentence: WorkMate automates repetitive workplace writing and planning, with safeguards so a human stays in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work. Not a made-up problem. The key tension is speed versus correctness, which is why safeguards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required feature areas. Prompt Lab is the extra: it shows how each prompt was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engines. Demo mode needs no key and is rule-based (not an LLM, and says so). Live mode uses the visitor's own API key held only in session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open the app, Meeting notes tab, Load example, Summarise. Point out the unassigned warning and the validation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letter with the meeting prompt as the example. Techniques map to the Discover the Art of Prompting learning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honestly: these are the intended effects of each change. Your own measured test results go in docs/TEST_LOG.md. If you ran the prompts live, quote one real before/after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the Use AI Responsibly learning area: limitations, bias, risks, disclaimers and validation steps are all visible in the product, not just in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these are estimates. If you time yourself during testing, replace the numbers and say "I measured". Sum of savings: 8 + 12 + 15 + 15 = 50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challenges to tell as a short story: the "guessing owners" problem and the unmarked-task bug found by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ApheleleKhambule with your GitHub username before presenting. Invite questions. Offer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5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663"/>
                </a:solidFill>
              </a:rPr>
              <a:t>WorkMate · Aphelele Khambule · CAPACITI AI Skill Accelerator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WorkMate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3F1EF"/>
                </a:solidFill>
              </a:rPr>
              <a:t>An AI assistant that gives your workday back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AI-Powered Workplace Productivity Assistant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Aphelele Khambule · CAPACITI AI Skill Accelerator Programme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quietly eats the week</a:t>
            </a:r>
            <a:endParaRPr lang="en-US" sz="3400" dirty="0"/>
          </a:p>
        </p:txBody>
      </p:sp>
      <p:sp>
        <p:nvSpPr>
          <p:cNvPr id="3" name="problem-card-1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4416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Emails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messages rewritten again and again, in the right tone for the right person.</a:t>
            </a:r>
            <a:endParaRPr lang="en-US" sz="2000" dirty="0"/>
          </a:p>
        </p:txBody>
      </p:sp>
      <p:sp>
        <p:nvSpPr>
          <p:cNvPr id="6" name="problem-card-2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34416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Meetings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Messy notes where owners and deadlines get lost.</a:t>
            </a:r>
            <a:endParaRPr lang="en-US" sz="2000" dirty="0"/>
          </a:p>
        </p:txBody>
      </p:sp>
      <p:sp>
        <p:nvSpPr>
          <p:cNvPr id="9" name="problem-card-3"/>
          <p:cNvSpPr/>
          <p:nvPr/>
        </p:nvSpPr>
        <p:spPr>
          <a:xfrm>
            <a:off x="457200" y="274320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5292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Planning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to-do lists with no clear order, and days that are over-booked.</a:t>
            </a:r>
            <a:endParaRPr lang="en-US" sz="2000" dirty="0"/>
          </a:p>
        </p:txBody>
      </p:sp>
      <p:sp>
        <p:nvSpPr>
          <p:cNvPr id="12" name="problem-card-4"/>
          <p:cNvSpPr/>
          <p:nvPr/>
        </p:nvSpPr>
        <p:spPr>
          <a:xfrm>
            <a:off x="4663440" y="2743200"/>
            <a:ext cx="40233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85292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Research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documents read just to find one useful point.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Goal: save time on routine work without removing human judgement.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tools, one assistant</a:t>
            </a:r>
            <a:endParaRPr lang="en-US" sz="3400" dirty="0"/>
          </a:p>
        </p:txBody>
      </p:sp>
      <p:sp>
        <p:nvSpPr>
          <p:cNvPr id="3" name="feature-card-1"/>
          <p:cNvSpPr/>
          <p:nvPr/>
        </p:nvSpPr>
        <p:spPr>
          <a:xfrm>
            <a:off x="45720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Email Generator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Audience × tone × purpose</a:t>
            </a:r>
            <a:endParaRPr lang="en-US" sz="1400" dirty="0"/>
          </a:p>
        </p:txBody>
      </p:sp>
      <p:sp>
        <p:nvSpPr>
          <p:cNvPr id="6" name="feature-card-2"/>
          <p:cNvSpPr/>
          <p:nvPr/>
        </p:nvSpPr>
        <p:spPr>
          <a:xfrm>
            <a:off x="324612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Meeting Summarizer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Decisions, actions, owners, deadlines</a:t>
            </a:r>
            <a:endParaRPr lang="en-US" sz="1400" dirty="0"/>
          </a:p>
        </p:txBody>
      </p:sp>
      <p:sp>
        <p:nvSpPr>
          <p:cNvPr id="9" name="feature-card-3"/>
          <p:cNvSpPr/>
          <p:nvPr/>
        </p:nvSpPr>
        <p:spPr>
          <a:xfrm>
            <a:off x="603504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Task Planner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Eisenhower + time-blocked plan</a:t>
            </a:r>
            <a:endParaRPr lang="en-US" sz="1400" dirty="0"/>
          </a:p>
        </p:txBody>
      </p:sp>
      <p:sp>
        <p:nvSpPr>
          <p:cNvPr id="12" name="feature-card-4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Research Assistant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Summary, insights, plain language</a:t>
            </a:r>
            <a:endParaRPr lang="en-US" sz="1400" dirty="0"/>
          </a:p>
        </p:txBody>
      </p:sp>
      <p:sp>
        <p:nvSpPr>
          <p:cNvPr id="15" name="feature-card-5"/>
          <p:cNvSpPr/>
          <p:nvPr/>
        </p:nvSpPr>
        <p:spPr>
          <a:xfrm>
            <a:off x="324612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Chatbot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Multi-turn, asks when unclear</a:t>
            </a:r>
            <a:endParaRPr lang="en-US" sz="1400" dirty="0"/>
          </a:p>
        </p:txBody>
      </p:sp>
      <p:sp>
        <p:nvSpPr>
          <p:cNvPr id="18" name="feature-card-6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rompt-lab-card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1089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Prompt Lab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Every prompt, v1 → v3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Brief requires 3 features. WorkMate delivers all 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tep-card-1"/>
          <p:cNvSpPr/>
          <p:nvPr/>
        </p:nvSpPr>
        <p:spPr>
          <a:xfrm>
            <a:off x="457200" y="1463040"/>
            <a:ext cx="1554480" cy="23774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 or chat message</a:t>
            </a:r>
            <a:endParaRPr lang="en-US" sz="1200" dirty="0"/>
          </a:p>
        </p:txBody>
      </p:sp>
      <p:sp>
        <p:nvSpPr>
          <p:cNvPr id="7" name="step-card-2"/>
          <p:cNvSpPr/>
          <p:nvPr/>
        </p:nvSpPr>
        <p:spPr>
          <a:xfrm>
            <a:off x="2121408" y="1463040"/>
            <a:ext cx="1554480" cy="23774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Safety scan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Warns about IDs, cards, phones, passwords</a:t>
            </a:r>
            <a:endParaRPr lang="en-US" sz="1200" dirty="0"/>
          </a:p>
        </p:txBody>
      </p:sp>
      <p:sp>
        <p:nvSpPr>
          <p:cNvPr id="11" name="step-card-3"/>
          <p:cNvSpPr/>
          <p:nvPr/>
        </p:nvSpPr>
        <p:spPr>
          <a:xfrm>
            <a:off x="3785616" y="1463040"/>
            <a:ext cx="1554480" cy="23774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Prompt builder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 · Context · Task · Format · Constraints</a:t>
            </a:r>
            <a:endParaRPr lang="en-US" sz="1200" dirty="0"/>
          </a:p>
        </p:txBody>
      </p:sp>
      <p:sp>
        <p:nvSpPr>
          <p:cNvPr id="15" name="step-card-4"/>
          <p:cNvSpPr/>
          <p:nvPr/>
        </p:nvSpPr>
        <p:spPr>
          <a:xfrm>
            <a:off x="5449824" y="1463040"/>
            <a:ext cx="1554480" cy="23774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2744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Engine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Demo rules, or live Gemini / OpenAI / Claude</a:t>
            </a:r>
            <a:endParaRPr lang="en-US" sz="1200" dirty="0"/>
          </a:p>
        </p:txBody>
      </p:sp>
      <p:sp>
        <p:nvSpPr>
          <p:cNvPr id="19" name="step-card-5"/>
          <p:cNvSpPr/>
          <p:nvPr/>
        </p:nvSpPr>
        <p:spPr>
          <a:xfrm>
            <a:off x="7114032" y="1463040"/>
            <a:ext cx="1554480" cy="23774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Labelled output + validation checklist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Runs entirely in the browser. No server and no stored user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messy notes to action items</a:t>
            </a:r>
            <a:endParaRPr lang="en-US" sz="3400" dirty="0"/>
          </a:p>
        </p:txBody>
      </p:sp>
      <p:sp>
        <p:nvSpPr>
          <p:cNvPr id="3" name="raw-notes-card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Raw notes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Sipho will send the revised supplier contract by Friday.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Lerato needs to update the cost tracker by 12 October.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Naledi to book the training room next week.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Someone should look at overtime costs.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team agreed to switch to the second supplier.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4663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Due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Send revised supplier contract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Sipho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Friday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Update cost tracker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Lerato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12 Oct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Book training room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Naledi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Next week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262C"/>
                          </a:solidFill>
                        </a:rPr>
                        <a:t>Look at overtime costs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262C"/>
                          </a:solidFill>
                        </a:rPr>
                        <a:t>Unassigned ⚠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023360" y="3520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Decision captured: switch to the second supplier. Missing owners are flagged, never guessed.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follow R-C-T-F-C</a:t>
            </a:r>
            <a:endParaRPr lang="en-US" sz="3400" dirty="0"/>
          </a:p>
        </p:txBody>
      </p:sp>
      <p:sp>
        <p:nvSpPr>
          <p:cNvPr id="3" name="rctfc-card-1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Sets the expertise</a:t>
            </a:r>
            <a:endParaRPr lang="en-US" sz="1200" dirty="0"/>
          </a:p>
        </p:txBody>
      </p:sp>
      <p:sp>
        <p:nvSpPr>
          <p:cNvPr id="7" name="rctfc-card-2"/>
          <p:cNvSpPr/>
          <p:nvPr/>
        </p:nvSpPr>
        <p:spPr>
          <a:xfrm>
            <a:off x="2121408" y="12801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Context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Only the facts the model may use</a:t>
            </a:r>
            <a:endParaRPr lang="en-US" sz="1200" dirty="0"/>
          </a:p>
        </p:txBody>
      </p:sp>
      <p:sp>
        <p:nvSpPr>
          <p:cNvPr id="11" name="rctfc-card-3"/>
          <p:cNvSpPr/>
          <p:nvPr/>
        </p:nvSpPr>
        <p:spPr>
          <a:xfrm>
            <a:off x="3785616" y="12801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clear job</a:t>
            </a:r>
            <a:endParaRPr lang="en-US" sz="1200" dirty="0"/>
          </a:p>
        </p:txBody>
      </p:sp>
      <p:sp>
        <p:nvSpPr>
          <p:cNvPr id="15" name="rctfc-card-4"/>
          <p:cNvSpPr/>
          <p:nvPr/>
        </p:nvSpPr>
        <p:spPr>
          <a:xfrm>
            <a:off x="5449824" y="12801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9824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541264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Format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Exact structure of the output</a:t>
            </a:r>
            <a:endParaRPr lang="en-US" sz="1200" dirty="0"/>
          </a:p>
        </p:txBody>
      </p:sp>
      <p:sp>
        <p:nvSpPr>
          <p:cNvPr id="19" name="rctfc-card-5"/>
          <p:cNvSpPr/>
          <p:nvPr/>
        </p:nvSpPr>
        <p:spPr>
          <a:xfrm>
            <a:off x="7114032" y="1280160"/>
            <a:ext cx="1554480" cy="20116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14032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Constraints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468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Block known failures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Plus: delimiters around user data · a one-shot example · "Not stated" fallbacks · temperature tuning (0.2 for minutes, 0.6 for email) · a "Check before use" 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iteration: meeting minutes</a:t>
            </a:r>
            <a:endParaRPr lang="en-US" sz="3400" dirty="0"/>
          </a:p>
        </p:txBody>
      </p:sp>
      <p:sp>
        <p:nvSpPr>
          <p:cNvPr id="3" name="version-head-1"/>
          <p:cNvSpPr/>
          <p:nvPr/>
        </p:nvSpPr>
        <p:spPr>
          <a:xfrm>
            <a:off x="457200" y="12344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4A5663"/>
          </a:solidFill>
          <a:ln w="12700">
            <a:solidFill>
              <a:srgbClr val="4A56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v1 · naive</a:t>
            </a:r>
            <a:endParaRPr lang="en-US" sz="1600" dirty="0"/>
          </a:p>
        </p:txBody>
      </p:sp>
      <p:sp>
        <p:nvSpPr>
          <p:cNvPr id="5" name="version-body-1"/>
          <p:cNvSpPr/>
          <p:nvPr/>
        </p:nvSpPr>
        <p:spPr>
          <a:xfrm>
            <a:off x="457200" y="1828800"/>
            <a:ext cx="2651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"Summarise these meeting notes."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Loose paragraph. Actions buried.</a:t>
            </a:r>
            <a:endParaRPr lang="en-US" sz="1400" dirty="0"/>
          </a:p>
        </p:txBody>
      </p:sp>
      <p:sp>
        <p:nvSpPr>
          <p:cNvPr id="7" name="version-head-2"/>
          <p:cNvSpPr/>
          <p:nvPr/>
        </p:nvSpPr>
        <p:spPr>
          <a:xfrm>
            <a:off x="3246120" y="12344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B8650D"/>
          </a:solidFill>
          <a:ln w="12700">
            <a:solidFill>
              <a:srgbClr val="B8650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v2 · headings</a:t>
            </a:r>
            <a:endParaRPr lang="en-US" sz="1600" dirty="0"/>
          </a:p>
        </p:txBody>
      </p:sp>
      <p:sp>
        <p:nvSpPr>
          <p:cNvPr id="9" name="version-body-2"/>
          <p:cNvSpPr/>
          <p:nvPr/>
        </p:nvSpPr>
        <p:spPr>
          <a:xfrm>
            <a:off x="3246120" y="1828800"/>
            <a:ext cx="2651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Summary / Decisions / Actions.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Still guesses missing owners and deadlines.</a:t>
            </a:r>
            <a:endParaRPr lang="en-US" sz="1400" dirty="0"/>
          </a:p>
        </p:txBody>
      </p:sp>
      <p:sp>
        <p:nvSpPr>
          <p:cNvPr id="11" name="version-head-3"/>
          <p:cNvSpPr/>
          <p:nvPr/>
        </p:nvSpPr>
        <p:spPr>
          <a:xfrm>
            <a:off x="6035040" y="12344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v3 · final</a:t>
            </a:r>
            <a:endParaRPr lang="en-US" sz="1600" dirty="0"/>
          </a:p>
        </p:txBody>
      </p:sp>
      <p:sp>
        <p:nvSpPr>
          <p:cNvPr id="13" name="version-body-3"/>
          <p:cNvSpPr/>
          <p:nvPr/>
        </p:nvSpPr>
        <p:spPr>
          <a:xfrm>
            <a:off x="6035040" y="1828800"/>
            <a:ext cx="26517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 format + "Not stated" rule + example + temp 0.2.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Faithful to the notes. Gaps are flagged.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built in</a:t>
            </a:r>
            <a:endParaRPr lang="en-US" sz="3400" dirty="0"/>
          </a:p>
        </p:txBody>
      </p:sp>
      <p:sp>
        <p:nvSpPr>
          <p:cNvPr id="3" name="rai-card-1"/>
          <p:cNvSpPr/>
          <p:nvPr/>
        </p:nvSpPr>
        <p:spPr>
          <a:xfrm>
            <a:off x="45720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4416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Transparent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output labelled AI-generated, with the engine used</a:t>
            </a:r>
            <a:endParaRPr lang="en-US" sz="1800" dirty="0"/>
          </a:p>
        </p:txBody>
      </p:sp>
      <p:sp>
        <p:nvSpPr>
          <p:cNvPr id="5" name="rai-card-2"/>
          <p:cNvSpPr/>
          <p:nvPr/>
        </p:nvSpPr>
        <p:spPr>
          <a:xfrm>
            <a:off x="324612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34416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Human in the loop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checklist on every result</a:t>
            </a:r>
            <a:endParaRPr lang="en-US" sz="1800" dirty="0"/>
          </a:p>
        </p:txBody>
      </p:sp>
      <p:sp>
        <p:nvSpPr>
          <p:cNvPr id="7" name="rai-card-3"/>
          <p:cNvSpPr/>
          <p:nvPr/>
        </p:nvSpPr>
        <p:spPr>
          <a:xfrm>
            <a:off x="6035040" y="123444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34416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Private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PII scan before sending. Key kept in the tab only</a:t>
            </a:r>
            <a:endParaRPr lang="en-US" sz="1800" dirty="0"/>
          </a:p>
        </p:txBody>
      </p:sp>
      <p:sp>
        <p:nvSpPr>
          <p:cNvPr id="9" name="rai-card-4"/>
          <p:cNvSpPr/>
          <p:nvPr/>
        </p:nvSpPr>
        <p:spPr>
          <a:xfrm>
            <a:off x="457200" y="288036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9008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Accurate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invented facts. "Not stated" and placeholders</a:t>
            </a:r>
            <a:endParaRPr lang="en-US" sz="1800" dirty="0"/>
          </a:p>
        </p:txBody>
      </p:sp>
      <p:sp>
        <p:nvSpPr>
          <p:cNvPr id="11" name="rai-card-5"/>
          <p:cNvSpPr/>
          <p:nvPr/>
        </p:nvSpPr>
        <p:spPr>
          <a:xfrm>
            <a:off x="3246120" y="288036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99008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Fair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Inclusive-language rule and bias reminders</a:t>
            </a:r>
            <a:endParaRPr lang="en-US" sz="1800" dirty="0"/>
          </a:p>
        </p:txBody>
      </p:sp>
      <p:sp>
        <p:nvSpPr>
          <p:cNvPr id="13" name="rai-card-6"/>
          <p:cNvSpPr/>
          <p:nvPr/>
        </p:nvSpPr>
        <p:spPr>
          <a:xfrm>
            <a:off x="6035040" y="288036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99008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Honest limits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Demo engine is rules, not an LLM. Always verify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time goes back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6400800" y="1188720"/>
            <a:ext cx="22860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2801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 min</a:t>
            </a:r>
            <a:endParaRPr lang="en-US" sz="3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saved across one of each task (estimate)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These are planning assumptions, not measured results. Review time is included. Replace with my own timings from testing.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Summaries guess missing owners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"Not stated" rule + unassigned warning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Plans over-book the day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Capacity check, priority order, "could not fit" list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Unmarked tasks dropped as low priority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Default to important (found by unit tests)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API keys cannot hide in a static site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Bring-your-own-key, session only + no-key demo mode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Must work with no key or connection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</a:rPr>
                        <a:t>Rule-based engine with 13 automated tests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6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F1EF"/>
                </a:solidFill>
              </a:rPr>
              <a:t>Next: server-side key proxy · email and calendar integration · measured-time tracker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Live site: aphelelekhambule.github.io/AI-Productivity-Assistant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Code: github.com/ApheleleKhambule/AI-Productivity-Assistant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Aphelele Khambule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Mate">
  <a:themeElements>
    <a:clrScheme name="WorkMate">
      <a:dk1>
        <a:srgbClr val="17212B"/>
      </a:dk1>
      <a:lt1>
        <a:srgbClr val="FFFFFF"/>
      </a:lt1>
      <a:dk2>
        <a:srgbClr val="0B6E69"/>
      </a:dk2>
      <a:lt2>
        <a:srgbClr val="E3F1EF"/>
      </a:lt2>
      <a:accent1>
        <a:srgbClr val="0B6E69"/>
      </a:accent1>
      <a:accent2>
        <a:srgbClr val="B8650D"/>
      </a:accent2>
      <a:accent3>
        <a:srgbClr val="1C9A92"/>
      </a:accent3>
      <a:accent4>
        <a:srgbClr val="F3E3C8"/>
      </a:accent4>
      <a:accent5>
        <a:srgbClr val="4A5663"/>
      </a:accent5>
      <a:accent6>
        <a:srgbClr val="A4262C"/>
      </a:accent6>
      <a:hlink>
        <a:srgbClr val="0B6E69"/>
      </a:hlink>
      <a:folHlink>
        <a:srgbClr val="4A5663"/>
      </a:folHlink>
    </a:clrScheme>
    <a:fontScheme name="WorkM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WorkMate – AI Workplace Productivity Assistant</dc:title>
  <dc:subject>PptxGenJS Presentation</dc:subject>
  <dc:creator>Aphelele Khambule</dc:creator>
  <cp:lastModifiedBy>Aphelele Khambule</cp:lastModifiedBy>
  <cp:revision>1</cp:revision>
  <dcterms:created xsi:type="dcterms:W3CDTF">2026-10-08T08:57:19Z</dcterms:created>
  <dcterms:modified xsi:type="dcterms:W3CDTF">2026-10-08T08:57:19Z</dcterms:modified>
</cp:coreProperties>
</file>